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41" r:id="rId1"/>
    <p:sldMasterId id="2147483742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vertBarState="minimized">
    <p:restoredLeft sz="5718"/>
    <p:restoredTop sz="97867"/>
  </p:normalViewPr>
  <p:slideViewPr>
    <p:cSldViewPr snapToObjects="1">
      <p:cViewPr varScale="1">
        <p:scale>
          <a:sx n="100" d="100"/>
          <a:sy n="100" d="100"/>
        </p:scale>
        <p:origin x="0" y="0"/>
      </p:cViewPr>
      <p:guideLst>
        <p:guide orient="horz" pos="215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7216" cy="73737216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Master" Target="slideMasters/slideMaster2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hyperlink" Target="https://slidesgo.com/" TargetMode="External" /><Relationship Id="rId3" Type="http://schemas.openxmlformats.org/officeDocument/2006/relationships/hyperlink" Target="https://www.flaticon.com/" TargetMode="External" /><Relationship Id="rId4" Type="http://schemas.openxmlformats.org/officeDocument/2006/relationships/hyperlink" Target="https://www.freepik.com/" TargetMode="External" /><Relationship Id="rId5" Type="http://schemas.openxmlformats.org/officeDocument/2006/relationships/hyperlink" Target="https://stories.freepik.com/rafiki/" TargetMode="External"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Титульный слайд" type="title">
  <p:cSld name="Титульный слайд">
    <p:bg>
      <p:bgPr shadeToTitle="0"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 idx="0"/>
          </p:nvPr>
        </p:nvSpPr>
        <p:spPr>
          <a:xfrm>
            <a:off x="960000" y="1363860"/>
            <a:ext cx="5136000" cy="2695200"/>
          </a:xfrm>
          <a:prstGeom prst="rect">
            <a:avLst/>
          </a:prstGeom>
        </p:spPr>
        <p:txBody>
          <a:bodyPr wrap="square" lIns="91424" tIns="91424" rIns="91424" bIns="91424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60000" y="4043933"/>
            <a:ext cx="3949600" cy="9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1" name="Google Shape;11;p2"/>
          <p:cNvSpPr/>
          <p:nvPr/>
        </p:nvSpPr>
        <p:spPr>
          <a:xfrm>
            <a:off x="-2439745" y="-2633108"/>
            <a:ext cx="5386323" cy="3956720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Заголовок раздела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398703">
            <a:off x="2116228" y="855173"/>
            <a:ext cx="7116748" cy="5028864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0"/>
          </p:nvPr>
        </p:nvSpPr>
        <p:spPr>
          <a:xfrm>
            <a:off x="3403600" y="2841800"/>
            <a:ext cx="5657200" cy="11224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403600" y="1844566"/>
            <a:ext cx="1231200" cy="9204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403600" y="3943054"/>
            <a:ext cx="3914400" cy="1016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Заголовок и текст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0000" y="1482266"/>
            <a:ext cx="10535200" cy="4888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 idx="0"/>
          </p:nvPr>
        </p:nvSpPr>
        <p:spPr>
          <a:xfrm>
            <a:off x="960000" y="52124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21" name="Google Shape;21;p4"/>
          <p:cNvSpPr/>
          <p:nvPr/>
        </p:nvSpPr>
        <p:spPr>
          <a:xfrm>
            <a:off x="10463455" y="-2252108"/>
            <a:ext cx="5386323" cy="3956720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_AND_TWO_COLUMNS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890648" y="3993700"/>
            <a:ext cx="3180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1890648" y="4462400"/>
            <a:ext cx="3180800" cy="1138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7199315" y="3993700"/>
            <a:ext cx="3180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7199315" y="4462400"/>
            <a:ext cx="3180800" cy="1138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27" name="Google Shape;27;p5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29" name="Google Shape;29;p5"/>
          <p:cNvSpPr/>
          <p:nvPr/>
        </p:nvSpPr>
        <p:spPr>
          <a:xfrm>
            <a:off x="10463455" y="-2252108"/>
            <a:ext cx="5386323" cy="3956720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Только заголовок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33" name="Google Shape;33;p6"/>
          <p:cNvSpPr/>
          <p:nvPr/>
        </p:nvSpPr>
        <p:spPr>
          <a:xfrm rot="13829941">
            <a:off x="9904567" y="-1469894"/>
            <a:ext cx="5386247" cy="3956664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ONE_COLUMN_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960000" y="3571228"/>
            <a:ext cx="4348400" cy="1348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0"/>
          </p:nvPr>
        </p:nvSpPr>
        <p:spPr>
          <a:xfrm>
            <a:off x="960000" y="1987600"/>
            <a:ext cx="4348400" cy="1477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37" name="Google Shape;37;p7"/>
          <p:cNvSpPr/>
          <p:nvPr/>
        </p:nvSpPr>
        <p:spPr>
          <a:xfrm rot="20500838">
            <a:off x="6845960" y="4751756"/>
            <a:ext cx="7596723" cy="5580451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11156932">
            <a:off x="-1616824" y="-2344186"/>
            <a:ext cx="5387064" cy="3957265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MAIN_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473577" y="-536033"/>
            <a:ext cx="9335956" cy="6858068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1"/>
          </p:nvPr>
        </p:nvSpPr>
        <p:spPr>
          <a:xfrm>
            <a:off x="2011600" y="3288570"/>
            <a:ext cx="5154800" cy="1371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42" name="Google Shape;42;p8"/>
          <p:cNvSpPr txBox="1">
            <a:spLocks noGrp="1"/>
          </p:cNvSpPr>
          <p:nvPr>
            <p:ph type="title" idx="0"/>
          </p:nvPr>
        </p:nvSpPr>
        <p:spPr>
          <a:xfrm>
            <a:off x="2011600" y="2224333"/>
            <a:ext cx="5154800" cy="96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_TITLE_AND_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 flipH="1">
            <a:off x="6893080" y="3398302"/>
            <a:ext cx="4348400" cy="1633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 idx="0"/>
          </p:nvPr>
        </p:nvSpPr>
        <p:spPr>
          <a:xfrm flipH="1">
            <a:off x="6893080" y="1814653"/>
            <a:ext cx="4348400" cy="1477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46" name="Google Shape;46;p9"/>
          <p:cNvSpPr/>
          <p:nvPr/>
        </p:nvSpPr>
        <p:spPr>
          <a:xfrm rot="1956015" flipH="1">
            <a:off x="-1893430" y="3215332"/>
            <a:ext cx="7596868" cy="5580557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12621415" flipH="1">
            <a:off x="9185488" y="-1648777"/>
            <a:ext cx="5386863" cy="3957117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APTION_ONLY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 flipH="1">
            <a:off x="5383467" y="970400"/>
            <a:ext cx="5832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 idx="0"/>
          </p:nvPr>
        </p:nvSpPr>
        <p:spPr>
          <a:xfrm flipH="1">
            <a:off x="4598267" y="516800"/>
            <a:ext cx="6617200" cy="24484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51" name="Google Shape;51;p10"/>
          <p:cNvSpPr/>
          <p:nvPr/>
        </p:nvSpPr>
        <p:spPr>
          <a:xfrm rot="19132786" flipH="1">
            <a:off x="9211636" y="4160844"/>
            <a:ext cx="5386295" cy="3956700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IG_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idx="0" hasCustomPrompt="1"/>
          </p:nvPr>
        </p:nvSpPr>
        <p:spPr>
          <a:xfrm>
            <a:off x="6338963" y="2205173"/>
            <a:ext cx="4902800" cy="14764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 flipH="1">
            <a:off x="6338963" y="3601593"/>
            <a:ext cx="4902800" cy="867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55" name="Google Shape;55;p11"/>
          <p:cNvSpPr/>
          <p:nvPr/>
        </p:nvSpPr>
        <p:spPr>
          <a:xfrm>
            <a:off x="8225533" y="4900839"/>
            <a:ext cx="5386323" cy="3956720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Пусто" type="blank">
  <p:cSld name="Пусто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 idx="0" hasCustomPrompt="1"/>
          </p:nvPr>
        </p:nvSpPr>
        <p:spPr>
          <a:xfrm>
            <a:off x="1159502" y="2840960"/>
            <a:ext cx="1181200" cy="9396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965200" y="3993701"/>
            <a:ext cx="2940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2"/>
          </p:nvPr>
        </p:nvSpPr>
        <p:spPr>
          <a:xfrm>
            <a:off x="965200" y="4462403"/>
            <a:ext cx="2940800" cy="1138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4822135" y="2840960"/>
            <a:ext cx="1181200" cy="9396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4"/>
          </p:nvPr>
        </p:nvSpPr>
        <p:spPr>
          <a:xfrm>
            <a:off x="4627832" y="3993701"/>
            <a:ext cx="2940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5"/>
          </p:nvPr>
        </p:nvSpPr>
        <p:spPr>
          <a:xfrm>
            <a:off x="4627833" y="4462403"/>
            <a:ext cx="2940800" cy="1138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8484768" y="2840960"/>
            <a:ext cx="1181200" cy="9396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7"/>
          </p:nvPr>
        </p:nvSpPr>
        <p:spPr>
          <a:xfrm>
            <a:off x="8290465" y="3993701"/>
            <a:ext cx="2940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8"/>
          </p:nvPr>
        </p:nvSpPr>
        <p:spPr>
          <a:xfrm>
            <a:off x="8290467" y="4462403"/>
            <a:ext cx="2940800" cy="1138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67" name="Google Shape;67;p13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9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69" name="Google Shape;69;p13"/>
          <p:cNvSpPr/>
          <p:nvPr/>
        </p:nvSpPr>
        <p:spPr>
          <a:xfrm rot="14394887">
            <a:off x="9955259" y="-1541492"/>
            <a:ext cx="5386588" cy="3956914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2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2346500" y="2445233"/>
            <a:ext cx="32496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2"/>
          </p:nvPr>
        </p:nvSpPr>
        <p:spPr>
          <a:xfrm>
            <a:off x="2346500" y="2913932"/>
            <a:ext cx="32496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3"/>
          </p:nvPr>
        </p:nvSpPr>
        <p:spPr>
          <a:xfrm>
            <a:off x="2346500" y="4284635"/>
            <a:ext cx="32496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4"/>
          </p:nvPr>
        </p:nvSpPr>
        <p:spPr>
          <a:xfrm>
            <a:off x="2346500" y="4753333"/>
            <a:ext cx="32496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75" name="Google Shape;75;p14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77" name="Google Shape;77;p14"/>
          <p:cNvSpPr/>
          <p:nvPr/>
        </p:nvSpPr>
        <p:spPr>
          <a:xfrm rot="20088088">
            <a:off x="8754067" y="5243045"/>
            <a:ext cx="5386535" cy="3956876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5"/>
          </p:nvPr>
        </p:nvSpPr>
        <p:spPr>
          <a:xfrm>
            <a:off x="7656900" y="2445233"/>
            <a:ext cx="32496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6"/>
          </p:nvPr>
        </p:nvSpPr>
        <p:spPr>
          <a:xfrm>
            <a:off x="7656900" y="2913932"/>
            <a:ext cx="32496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7"/>
          </p:nvPr>
        </p:nvSpPr>
        <p:spPr>
          <a:xfrm>
            <a:off x="7656900" y="4284635"/>
            <a:ext cx="32496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8"/>
          </p:nvPr>
        </p:nvSpPr>
        <p:spPr>
          <a:xfrm>
            <a:off x="7656900" y="4753333"/>
            <a:ext cx="32496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960000" y="2013000"/>
            <a:ext cx="5136000" cy="4026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84" name="Google Shape;84;p15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86" name="Google Shape;86;p15"/>
          <p:cNvSpPr/>
          <p:nvPr/>
        </p:nvSpPr>
        <p:spPr>
          <a:xfrm rot="13018283" flipH="1">
            <a:off x="8114025" y="-1995105"/>
            <a:ext cx="5870545" cy="4312424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6096000" y="2013000"/>
            <a:ext cx="5136000" cy="4026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3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91" name="Google Shape;91;p16"/>
          <p:cNvSpPr/>
          <p:nvPr/>
        </p:nvSpPr>
        <p:spPr>
          <a:xfrm rot="5779024">
            <a:off x="8898907" y="-2419720"/>
            <a:ext cx="5386213" cy="3956640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" name="Google Shape;92;p16"/>
          <p:cNvSpPr/>
          <p:nvPr/>
        </p:nvSpPr>
        <p:spPr>
          <a:xfrm rot="4073489">
            <a:off x="-2952201" y="4444699"/>
            <a:ext cx="5386615" cy="3956934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4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96" name="Google Shape;96;p17"/>
          <p:cNvSpPr/>
          <p:nvPr/>
        </p:nvSpPr>
        <p:spPr>
          <a:xfrm rot="15676749">
            <a:off x="9655880" y="-1258614"/>
            <a:ext cx="5387016" cy="3957230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1"/>
          </p:nvPr>
        </p:nvSpPr>
        <p:spPr>
          <a:xfrm>
            <a:off x="965200" y="2445233"/>
            <a:ext cx="29408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2"/>
          </p:nvPr>
        </p:nvSpPr>
        <p:spPr>
          <a:xfrm>
            <a:off x="965200" y="2913933"/>
            <a:ext cx="29408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3"/>
          </p:nvPr>
        </p:nvSpPr>
        <p:spPr>
          <a:xfrm>
            <a:off x="4627832" y="2445233"/>
            <a:ext cx="29408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4"/>
          </p:nvPr>
        </p:nvSpPr>
        <p:spPr>
          <a:xfrm>
            <a:off x="4627833" y="2913933"/>
            <a:ext cx="29408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5"/>
          </p:nvPr>
        </p:nvSpPr>
        <p:spPr>
          <a:xfrm>
            <a:off x="8290465" y="2445233"/>
            <a:ext cx="29408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6"/>
          </p:nvPr>
        </p:nvSpPr>
        <p:spPr>
          <a:xfrm>
            <a:off x="8290467" y="2913933"/>
            <a:ext cx="29408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7"/>
          </p:nvPr>
        </p:nvSpPr>
        <p:spPr>
          <a:xfrm>
            <a:off x="962966" y="4284635"/>
            <a:ext cx="29408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8"/>
          </p:nvPr>
        </p:nvSpPr>
        <p:spPr>
          <a:xfrm>
            <a:off x="962966" y="4753333"/>
            <a:ext cx="29408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9"/>
          </p:nvPr>
        </p:nvSpPr>
        <p:spPr>
          <a:xfrm>
            <a:off x="4625599" y="4284635"/>
            <a:ext cx="29408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3"/>
          </p:nvPr>
        </p:nvSpPr>
        <p:spPr>
          <a:xfrm>
            <a:off x="4625600" y="4753333"/>
            <a:ext cx="29408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4"/>
          </p:nvPr>
        </p:nvSpPr>
        <p:spPr>
          <a:xfrm>
            <a:off x="8288232" y="4284635"/>
            <a:ext cx="29408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5"/>
          </p:nvPr>
        </p:nvSpPr>
        <p:spPr>
          <a:xfrm>
            <a:off x="8288233" y="4753333"/>
            <a:ext cx="29408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09" name="Google Shape;109;p17"/>
          <p:cNvSpPr/>
          <p:nvPr/>
        </p:nvSpPr>
        <p:spPr>
          <a:xfrm rot="13228181">
            <a:off x="-2498634" y="5872564"/>
            <a:ext cx="5386855" cy="3957112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13">
  <p:cSld name="CUSTOM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subTitle" idx="1"/>
          </p:nvPr>
        </p:nvSpPr>
        <p:spPr>
          <a:xfrm>
            <a:off x="960000" y="3398302"/>
            <a:ext cx="4348400" cy="1633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12" name="Google Shape;112;p18"/>
          <p:cNvSpPr txBox="1">
            <a:spLocks noGrp="1"/>
          </p:cNvSpPr>
          <p:nvPr>
            <p:ph type="title" idx="0"/>
          </p:nvPr>
        </p:nvSpPr>
        <p:spPr>
          <a:xfrm>
            <a:off x="960000" y="1814653"/>
            <a:ext cx="4348400" cy="1477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13" name="Google Shape;113;p18"/>
          <p:cNvSpPr/>
          <p:nvPr/>
        </p:nvSpPr>
        <p:spPr>
          <a:xfrm rot="19643984">
            <a:off x="6498043" y="3215332"/>
            <a:ext cx="7596868" cy="5580557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" name="Google Shape;114;p18"/>
          <p:cNvSpPr/>
          <p:nvPr/>
        </p:nvSpPr>
        <p:spPr>
          <a:xfrm rot="8978585">
            <a:off x="-2370870" y="-1648777"/>
            <a:ext cx="5386863" cy="3957117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12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 idx="0"/>
          </p:nvPr>
        </p:nvSpPr>
        <p:spPr>
          <a:xfrm>
            <a:off x="6359200" y="1909666"/>
            <a:ext cx="4872800" cy="12972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17" name="Google Shape;117;p19"/>
          <p:cNvSpPr txBox="1"/>
          <p:nvPr/>
        </p:nvSpPr>
        <p:spPr>
          <a:xfrm>
            <a:off x="6359200" y="4687997"/>
            <a:ext cx="4872800" cy="1213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/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illustrations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/>
              </a:rPr>
              <a:t>Stories</a:t>
            </a:r>
            <a:endParaRPr sz="12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1"/>
          </p:nvPr>
        </p:nvSpPr>
        <p:spPr>
          <a:xfrm>
            <a:off x="6359200" y="3173834"/>
            <a:ext cx="4872800" cy="1356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9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 rot="11756237" flipH="1">
            <a:off x="1614607" y="223953"/>
            <a:ext cx="10325016" cy="6213613"/>
          </a:xfrm>
          <a:custGeom>
            <a:avLst/>
            <a:gdLst/>
            <a:rect l="l" t="t" r="r" b="b"/>
            <a:pathLst>
              <a:path w="159514" h="110474" extrusionOk="0">
                <a:moveTo>
                  <a:pt x="45147" y="0"/>
                </a:moveTo>
                <a:cubicBezTo>
                  <a:pt x="37611" y="0"/>
                  <a:pt x="30146" y="3378"/>
                  <a:pt x="22816" y="12595"/>
                </a:cubicBezTo>
                <a:cubicBezTo>
                  <a:pt x="0" y="41316"/>
                  <a:pt x="46700" y="90351"/>
                  <a:pt x="69249" y="103327"/>
                </a:cubicBezTo>
                <a:cubicBezTo>
                  <a:pt x="77689" y="108192"/>
                  <a:pt x="87067" y="110473"/>
                  <a:pt x="96471" y="110473"/>
                </a:cubicBezTo>
                <a:cubicBezTo>
                  <a:pt x="119178" y="110473"/>
                  <a:pt x="142032" y="97169"/>
                  <a:pt x="152175" y="74807"/>
                </a:cubicBezTo>
                <a:cubicBezTo>
                  <a:pt x="159147" y="59396"/>
                  <a:pt x="159514" y="43484"/>
                  <a:pt x="150307" y="30075"/>
                </a:cubicBezTo>
                <a:cubicBezTo>
                  <a:pt x="143020" y="19415"/>
                  <a:pt x="138448" y="16065"/>
                  <a:pt x="134265" y="16065"/>
                </a:cubicBezTo>
                <a:cubicBezTo>
                  <a:pt x="128185" y="16065"/>
                  <a:pt x="122926" y="23142"/>
                  <a:pt x="111346" y="25138"/>
                </a:cubicBezTo>
                <a:cubicBezTo>
                  <a:pt x="110039" y="25364"/>
                  <a:pt x="108728" y="25470"/>
                  <a:pt x="107413" y="25470"/>
                </a:cubicBezTo>
                <a:cubicBezTo>
                  <a:pt x="87055" y="25470"/>
                  <a:pt x="65838" y="0"/>
                  <a:pt x="45147" y="0"/>
                </a:cubicBez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 idx="0"/>
          </p:nvPr>
        </p:nvSpPr>
        <p:spPr>
          <a:xfrm flipH="1">
            <a:off x="5558200" y="2298200"/>
            <a:ext cx="4835600" cy="2261600"/>
          </a:xfrm>
          <a:prstGeom prst="rect">
            <a:avLst/>
          </a:prstGeom>
          <a:noFill/>
        </p:spPr>
        <p:txBody>
          <a:bodyPr wrap="square" lIns="91424" tIns="91424" rIns="91424" bIns="91424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LANK_2">
  <p:cSld name="BLAN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 idx="0" hasCustomPrompt="1"/>
          </p:nvPr>
        </p:nvSpPr>
        <p:spPr>
          <a:xfrm>
            <a:off x="1018802" y="2623202"/>
            <a:ext cx="1181200" cy="9396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2346500" y="2445233"/>
            <a:ext cx="3576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2346500" y="2913932"/>
            <a:ext cx="35768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 idx="3" hasCustomPrompt="1"/>
          </p:nvPr>
        </p:nvSpPr>
        <p:spPr>
          <a:xfrm>
            <a:off x="1018802" y="4462603"/>
            <a:ext cx="1181200" cy="9396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2346500" y="4284635"/>
            <a:ext cx="3576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5"/>
          </p:nvPr>
        </p:nvSpPr>
        <p:spPr>
          <a:xfrm>
            <a:off x="2346500" y="4753333"/>
            <a:ext cx="35768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29" name="Google Shape;129;p21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title" idx="6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31" name="Google Shape;131;p21"/>
          <p:cNvSpPr/>
          <p:nvPr/>
        </p:nvSpPr>
        <p:spPr>
          <a:xfrm rot="12057948">
            <a:off x="9955206" y="-1541401"/>
            <a:ext cx="5386548" cy="3956885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2" name="Google Shape;132;p21"/>
          <p:cNvSpPr/>
          <p:nvPr/>
        </p:nvSpPr>
        <p:spPr>
          <a:xfrm rot="3055103">
            <a:off x="-2663622" y="4998993"/>
            <a:ext cx="5386600" cy="3956924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title" idx="7" hasCustomPrompt="1"/>
          </p:nvPr>
        </p:nvSpPr>
        <p:spPr>
          <a:xfrm>
            <a:off x="6329200" y="2623202"/>
            <a:ext cx="1181200" cy="9396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8"/>
          </p:nvPr>
        </p:nvSpPr>
        <p:spPr>
          <a:xfrm>
            <a:off x="7656897" y="2445233"/>
            <a:ext cx="3576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9"/>
          </p:nvPr>
        </p:nvSpPr>
        <p:spPr>
          <a:xfrm>
            <a:off x="7656897" y="2913932"/>
            <a:ext cx="35768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36" name="Google Shape;136;p21"/>
          <p:cNvSpPr txBox="1">
            <a:spLocks noGrp="1"/>
          </p:cNvSpPr>
          <p:nvPr>
            <p:ph type="title" idx="13" hasCustomPrompt="1"/>
          </p:nvPr>
        </p:nvSpPr>
        <p:spPr>
          <a:xfrm>
            <a:off x="6329200" y="4462603"/>
            <a:ext cx="1181200" cy="9396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pPr lvl="0">
              <a:defRPr/>
            </a:pPr>
            <a:r>
              <a:rPr/>
              <a:t>xx%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4"/>
          </p:nvPr>
        </p:nvSpPr>
        <p:spPr>
          <a:xfrm>
            <a:off x="7656897" y="4284635"/>
            <a:ext cx="3576800" cy="4952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5"/>
          </p:nvPr>
        </p:nvSpPr>
        <p:spPr>
          <a:xfrm>
            <a:off x="7656897" y="4753333"/>
            <a:ext cx="35768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17">
  <p:cSld name="CUSTOM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>
            <a:off x="960000" y="2767333"/>
            <a:ext cx="7001200" cy="2575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41" name="Google Shape;141;p22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43" name="Google Shape;143;p22"/>
          <p:cNvSpPr/>
          <p:nvPr/>
        </p:nvSpPr>
        <p:spPr>
          <a:xfrm rot="17921110" flipH="1">
            <a:off x="8533013" y="3074034"/>
            <a:ext cx="5870563" cy="4312437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USTOM_18">
  <p:cSld name="CUSTOM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960000" y="970400"/>
            <a:ext cx="7704000" cy="363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title" idx="0"/>
          </p:nvPr>
        </p:nvSpPr>
        <p:spPr>
          <a:xfrm>
            <a:off x="960000" y="516800"/>
            <a:ext cx="10272000" cy="816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47" name="Google Shape;147;p23"/>
          <p:cNvSpPr/>
          <p:nvPr/>
        </p:nvSpPr>
        <p:spPr>
          <a:xfrm rot="13500000">
            <a:off x="8482530" y="-2342021"/>
            <a:ext cx="5387159" cy="3957334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ubTitle" idx="1"/>
          </p:nvPr>
        </p:nvSpPr>
        <p:spPr>
          <a:xfrm>
            <a:off x="965069" y="2766332"/>
            <a:ext cx="27680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2"/>
          </p:nvPr>
        </p:nvSpPr>
        <p:spPr>
          <a:xfrm>
            <a:off x="965069" y="3235032"/>
            <a:ext cx="27680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3"/>
          </p:nvPr>
        </p:nvSpPr>
        <p:spPr>
          <a:xfrm>
            <a:off x="3917518" y="2766332"/>
            <a:ext cx="27680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1" name="Google Shape;151;p23"/>
          <p:cNvSpPr txBox="1">
            <a:spLocks noGrp="1"/>
          </p:cNvSpPr>
          <p:nvPr>
            <p:ph type="subTitle" idx="4"/>
          </p:nvPr>
        </p:nvSpPr>
        <p:spPr>
          <a:xfrm>
            <a:off x="3917518" y="3235032"/>
            <a:ext cx="27680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5"/>
          </p:nvPr>
        </p:nvSpPr>
        <p:spPr>
          <a:xfrm>
            <a:off x="962966" y="4605735"/>
            <a:ext cx="27680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6"/>
          </p:nvPr>
        </p:nvSpPr>
        <p:spPr>
          <a:xfrm>
            <a:off x="962966" y="5074432"/>
            <a:ext cx="27680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7"/>
          </p:nvPr>
        </p:nvSpPr>
        <p:spPr>
          <a:xfrm>
            <a:off x="3917518" y="4605735"/>
            <a:ext cx="2768000" cy="4952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8"/>
          </p:nvPr>
        </p:nvSpPr>
        <p:spPr>
          <a:xfrm>
            <a:off x="3917518" y="5074432"/>
            <a:ext cx="2768000" cy="816800"/>
          </a:xfrm>
          <a:prstGeom prst="rect">
            <a:avLst/>
          </a:prstGeom>
          <a:noFill/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6" name="Google Shape;156;p23"/>
          <p:cNvSpPr/>
          <p:nvPr/>
        </p:nvSpPr>
        <p:spPr>
          <a:xfrm rot="13228181">
            <a:off x="9932366" y="5872564"/>
            <a:ext cx="5386855" cy="3957112"/>
          </a:xfrm>
          <a:custGeom>
            <a:avLst/>
            <a:gd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Пусто" type="blank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slideLayout" Target="../slideLayouts/slideLayout16.xml"  /><Relationship Id="rId17" Type="http://schemas.openxmlformats.org/officeDocument/2006/relationships/slideLayout" Target="../slideLayouts/slideLayout17.xml"  /><Relationship Id="rId18" Type="http://schemas.openxmlformats.org/officeDocument/2006/relationships/slideLayout" Target="../slideLayouts/slideLayout18.xml"  /><Relationship Id="rId19" Type="http://schemas.openxmlformats.org/officeDocument/2006/relationships/slideLayout" Target="../slideLayouts/slideLayout19.xml"  /><Relationship Id="rId2" Type="http://schemas.openxmlformats.org/officeDocument/2006/relationships/slideLayout" Target="../slideLayouts/slideLayout2.xml"  /><Relationship Id="rId20" Type="http://schemas.openxmlformats.org/officeDocument/2006/relationships/slideLayout" Target="../slideLayouts/slideLayout20.xml"  /><Relationship Id="rId21" Type="http://schemas.openxmlformats.org/officeDocument/2006/relationships/slideLayout" Target="../slideLayouts/slideLayout21.xml"  /><Relationship Id="rId22" Type="http://schemas.openxmlformats.org/officeDocument/2006/relationships/slideLayout" Target="../slideLayouts/slideLayout22.xml"  /><Relationship Id="rId23" Type="http://schemas.openxmlformats.org/officeDocument/2006/relationships/theme" Target="../theme/theme1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3.xml"  /><Relationship Id="rId2" Type="http://schemas.openxmlformats.org/officeDocument/2006/relationships/theme" Target="../theme/theme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Theme2">
    <p:bg>
      <p:bgPr shadeToTitle="0"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 idx="0"/>
          </p:nvPr>
        </p:nvSpPr>
        <p:spPr>
          <a:xfrm>
            <a:off x="960000" y="521240"/>
            <a:ext cx="10272000" cy="816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734466"/>
            <a:ext cx="10272000" cy="43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sgo Final Pages">
    <p:bg>
      <p:bgPr shadeToTitle="0"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title" idx="0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>
              <a:defRPr/>
            </a:pPr>
            <a:r>
              <a:rPr lang="ru-RU" altLang="en-US"/>
              <a:t/>
            </a:r>
            <a:endParaRPr lang="ru-RU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0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9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960000" y="2348865"/>
            <a:ext cx="5856090" cy="2695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80aa4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 lang="en-US"/>
            </a:pPr>
            <a:r>
              <a:rPr lang="ru-RU" altLang="en-US">
                <a:solidFill>
                  <a:schemeClr val="tx1"/>
                </a:solidFill>
              </a:rPr>
              <a:t>Проект по теме</a:t>
            </a:r>
            <a:endParaRPr lang="ru-RU" altLang="en-US">
              <a:solidFill>
                <a:schemeClr val="tx1"/>
              </a:solidFill>
            </a:endParaRPr>
          </a:p>
          <a:p>
            <a:pPr>
              <a:defRPr lang="en-US"/>
            </a:pPr>
            <a:r>
              <a:rPr lang="ru-RU" altLang="en-US">
                <a:solidFill>
                  <a:schemeClr val="tx1"/>
                </a:solidFill>
              </a:rPr>
              <a:t>«Тематическая система поиска»</a:t>
            </a:r>
            <a:endParaRPr lang="ru-RU" altLang="en-US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000" y="5373243"/>
            <a:ext cx="4631937" cy="1080135"/>
          </a:xfrm>
        </p:spPr>
        <p:txBody>
          <a:bodyPr/>
          <a:lstStyle/>
          <a:p>
            <a:pPr>
              <a:defRPr lang="en-US"/>
            </a:pPr>
            <a:r>
              <a:rPr lang="ru-RU" altLang="en-US"/>
              <a:t>Ученики Блащенко А</a:t>
            </a:r>
            <a:r>
              <a:rPr lang="en-US" altLang="ru-RU"/>
              <a:t>.</a:t>
            </a:r>
            <a:r>
              <a:rPr lang="ru-RU" altLang="en-US"/>
              <a:t>В</a:t>
            </a:r>
            <a:r>
              <a:rPr lang="en-US" altLang="ru-RU"/>
              <a:t>.</a:t>
            </a:r>
            <a:r>
              <a:rPr lang="ru-RU" altLang="en-US"/>
              <a:t> и Барышников М</a:t>
            </a:r>
            <a:r>
              <a:rPr lang="en-US" altLang="ru-RU"/>
              <a:t>.</a:t>
            </a:r>
            <a:r>
              <a:rPr lang="ru-RU" altLang="en-US"/>
              <a:t>С</a:t>
            </a:r>
            <a:r>
              <a:rPr lang="en-US" altLang="ru-RU"/>
              <a:t>.</a:t>
            </a:r>
            <a:endParaRPr lang="en-US" altLang="ru-RU"/>
          </a:p>
          <a:p>
            <a:pPr>
              <a:defRPr lang="en-US"/>
            </a:pPr>
            <a:r>
              <a:rPr lang="ru-RU" altLang="en-US"/>
              <a:t>Методист Копытина Е</a:t>
            </a:r>
            <a:r>
              <a:rPr lang="en-US" altLang="ru-RU"/>
              <a:t>.</a:t>
            </a:r>
            <a:r>
              <a:rPr lang="ru-RU" altLang="en-US"/>
              <a:t>А</a:t>
            </a:r>
            <a:endParaRPr lang="ru-RU" altLang="en-US"/>
          </a:p>
        </p:txBody>
      </p:sp>
      <p:grpSp>
        <p:nvGrpSpPr>
          <p:cNvPr id="6" name=""/>
          <p:cNvGrpSpPr/>
          <p:nvPr/>
        </p:nvGrpSpPr>
        <p:grpSpPr>
          <a:xfrm rot="0">
            <a:off x="8400288" y="2348865"/>
            <a:ext cx="3168396" cy="3957945"/>
            <a:chOff x="8472297" y="2711460"/>
            <a:chExt cx="3168396" cy="3957945"/>
          </a:xfrm>
        </p:grpSpPr>
        <p:sp>
          <p:nvSpPr>
            <p:cNvPr id="5" name=""/>
            <p:cNvSpPr/>
            <p:nvPr/>
          </p:nvSpPr>
          <p:spPr>
            <a:xfrm>
              <a:off x="8760333" y="5913310"/>
              <a:ext cx="2880360" cy="7560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ru-RU" altLang="en-US"/>
            </a:p>
          </p:txBody>
        </p:sp>
        <p:pic>
          <p:nvPicPr>
            <p:cNvPr id="4" name=""/>
            <p:cNvPicPr>
              <a:picLocks noChangeAspect="1"/>
            </p:cNvPicPr>
            <p:nvPr/>
          </p:nvPicPr>
          <p:blipFill rotWithShape="1">
            <a:blip r:embed="rId2"/>
            <a:srcRect l="30900" t="15460" r="32780" b="23120"/>
            <a:stretch>
              <a:fillRect/>
            </a:stretch>
          </p:blipFill>
          <p:spPr>
            <a:xfrm>
              <a:off x="8472297" y="2711460"/>
              <a:ext cx="2952369" cy="374446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>
        <p:wipe dir="r"/>
      </p:transition>
    </mc:Choice>
    <mc:Fallback>
      <p:transition xmlns:mc="http://schemas.openxmlformats.org/markup-compatibility/2006" xmlns:hp="http://schemas.haansoft.com/office/presentation/8.0" spd="med" mc:Ignorable="hp" hp:hslDur="1000">
        <p:wipe dir="r"/>
      </p:transition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;p4"/>
          <p:cNvSpPr>
            <a:spLocks noGrp="1"/>
          </p:cNvSpPr>
          <p:nvPr>
            <p:ph type="body" idx="1"/>
          </p:nvPr>
        </p:nvSpPr>
        <p:spPr>
          <a:xfrm>
            <a:off x="1559433" y="2708910"/>
            <a:ext cx="8497062" cy="3661357"/>
          </a:xfrm>
        </p:spPr>
        <p:txBody>
          <a:bodyPr/>
          <a:lstStyle/>
          <a:p>
            <a:pPr algn="just">
              <a:defRPr/>
            </a:pPr>
            <a:r>
              <a:rPr lang="ru-RU" altLang="en-US" sz="2200"/>
              <a:t>Обработка запросов пользователей (текстовый и аудио формат).</a:t>
            </a:r>
            <a:endParaRPr lang="ru-RU" altLang="en-US" sz="2200"/>
          </a:p>
          <a:p>
            <a:pPr algn="just">
              <a:defRPr/>
            </a:pPr>
            <a:r>
              <a:rPr lang="ru-RU" altLang="en-US" sz="2200"/>
              <a:t>Поиск результатов на основе запроса (поиск по организациям, адресам, местам, поиск в Википедии).</a:t>
            </a:r>
            <a:endParaRPr lang="ru-RU" altLang="en-US" sz="2200"/>
          </a:p>
          <a:p>
            <a:pPr algn="just">
              <a:defRPr/>
            </a:pPr>
            <a:r>
              <a:rPr lang="ru-RU" altLang="en-US" sz="2200"/>
              <a:t>Удобный для пользователя вывод результатов запроса (выбор удобного формата вывода: стилизованное сообщение, фото с кратким описанием).</a:t>
            </a:r>
            <a:endParaRPr lang="ru-RU" altLang="en-US" sz="2200"/>
          </a:p>
        </p:txBody>
      </p:sp>
      <p:sp>
        <p:nvSpPr>
          <p:cNvPr id="3" name="Google Shape;20;p4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ru-RU" altLang="en-US" sz="3300" b="1">
                <a:solidFill>
                  <a:schemeClr val="tx1"/>
                </a:solidFill>
                <a:latin typeface="Times New Roman"/>
                <a:cs typeface="Times New Roman"/>
              </a:rPr>
              <a:t>Функциональные возможности проекта</a:t>
            </a:r>
            <a:endParaRPr lang="ru-RU" altLang="en-US" sz="33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>
        <p:wipe dir="r"/>
      </p:transition>
    </mc:Choice>
    <mc:Fallback>
      <p:transition xmlns:mc="http://schemas.openxmlformats.org/markup-compatibility/2006" xmlns:hp="http://schemas.haansoft.com/office/presentation/8.0" spd="med" mc:Ignorable="hp" hp:hslDur="1000">
        <p:wipe dir="r"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22"/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8281035" cy="4176522"/>
          </a:xfrm>
        </p:spPr>
        <p:txBody>
          <a:bodyPr vert="horz" wrap="square" lIns="91424" tIns="91424" rIns="91424" bIns="91424" anchor="t" anchorCtr="0">
            <a:noAutofit/>
          </a:bodyPr>
          <a:lstStyle/>
          <a:p>
            <a:pPr indent="0">
              <a:buNone/>
              <a:defRPr/>
            </a:pPr>
            <a:r>
              <a:rPr lang="ru-RU" altLang="en-US" sz="2000">
                <a:solidFill>
                  <a:schemeClr val="dk1"/>
                </a:solidFill>
              </a:rPr>
              <a:t>Идея нашего проекта состоит в создании телеграмм бота, помогающего в обработке запросов пользователей по информации оказания товаров и услуг (предоставления выбора вариантов в зависимости от запроса).</a:t>
            </a:r>
            <a:endParaRPr lang="ru-RU" altLang="en-US" sz="2000"/>
          </a:p>
          <a:p>
            <a:pPr>
              <a:buNone/>
              <a:defRPr/>
            </a:pPr>
            <a:r>
              <a:rPr lang="ru-RU" altLang="en-US" sz="2000"/>
              <a:t>    Актуальность:</a:t>
            </a:r>
            <a:endParaRPr lang="ru-RU" altLang="en-US" sz="2000"/>
          </a:p>
          <a:p>
            <a:pPr>
              <a:defRPr/>
            </a:pPr>
            <a:r>
              <a:rPr lang="ru-RU" altLang="en-US" sz="2000"/>
              <a:t>Профилизация поисковых помощников – дробление сфере ботов ассистентов, поисковиках, помощниках (ориентированных на определённые сферы)</a:t>
            </a:r>
            <a:endParaRPr lang="ru-RU" altLang="en-US" sz="2000"/>
          </a:p>
          <a:p>
            <a:pPr>
              <a:defRPr/>
            </a:pPr>
            <a:r>
              <a:rPr lang="ru-RU" altLang="en-US" sz="2000"/>
              <a:t>Клиповое мышление в сети (в данной интерпретации - интерес к коротким и субъективно интересным историческим справкам) (функциональные возможности предоставления исторических справок Википедии об адресах)</a:t>
            </a:r>
            <a:endParaRPr lang="ru-RU" altLang="en-US" sz="2000"/>
          </a:p>
          <a:p>
            <a:pPr>
              <a:defRPr/>
            </a:pPr>
            <a:r>
              <a:rPr lang="ru-RU" altLang="en-US" sz="2000"/>
              <a:t>Рост популярности ТГ как социальной сети и количества ботов-помощников в нём</a:t>
            </a:r>
            <a:endParaRPr lang="ru-RU" altLang="en-US" sz="2000"/>
          </a:p>
        </p:txBody>
      </p:sp>
      <p:sp>
        <p:nvSpPr>
          <p:cNvPr id="3" name="Google Shape;142;p2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ru-RU" altLang="en-US"/>
              <a:t>Описание идеи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>
        <p:wipe dir="r"/>
      </p:transition>
    </mc:Choice>
    <mc:Fallback>
      <p:transition xmlns:mc="http://schemas.openxmlformats.org/markup-compatibility/2006" xmlns:hp="http://schemas.haansoft.com/office/presentation/8.0" spd="med" mc:Ignorable="hp" hp:hslDur="1000">
        <p:wipe dir="r"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21"/>
          <p:cNvSpPr>
            <a:spLocks noGrp="1"/>
          </p:cNvSpPr>
          <p:nvPr>
            <p:ph type="title" idx="0" hasCustomPrompt="1"/>
          </p:nvPr>
        </p:nvSpPr>
        <p:spPr>
          <a:prstGeom prst="roundRect">
            <a:avLst>
              <a:gd name="adj" fmla="val 38541"/>
            </a:avLst>
          </a:prstGeom>
          <a:noFill/>
          <a:ln/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ru-RU">
                <a:solidFill>
                  <a:schemeClr val="tx1"/>
                </a:solidFill>
              </a:rPr>
              <a:t>1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3" name="Google Shape;124;p21"/>
          <p:cNvSpPr>
            <a:spLocks noGrp="1"/>
          </p:cNvSpPr>
          <p:nvPr>
            <p:ph type="subTitle" idx="1"/>
          </p:nvPr>
        </p:nvSpPr>
        <p:spPr>
          <a:xfrm>
            <a:off x="1847469" y="2623202"/>
            <a:ext cx="4075831" cy="939600"/>
          </a:xfrm>
        </p:spPr>
        <p:txBody>
          <a:bodyPr/>
          <a:lstStyle/>
          <a:p>
            <a:pPr indent="0">
              <a:defRPr/>
            </a:pPr>
            <a:r>
              <a:rPr lang="ru-RU" altLang="en-US" sz="2000">
                <a:solidFill>
                  <a:schemeClr val="dk1"/>
                </a:solidFill>
              </a:rPr>
              <a:t>Создание базы данных и методов работы с ней</a:t>
            </a:r>
            <a:endParaRPr lang="ru-RU" altLang="en-US" sz="2000">
              <a:solidFill>
                <a:schemeClr val="dk1"/>
              </a:solidFill>
            </a:endParaRPr>
          </a:p>
        </p:txBody>
      </p:sp>
      <p:sp>
        <p:nvSpPr>
          <p:cNvPr id="5" name="Google Shape;126;p21"/>
          <p:cNvSpPr>
            <a:spLocks noGrp="1"/>
          </p:cNvSpPr>
          <p:nvPr>
            <p:ph type="title" idx="3" hasCustomPrompt="1"/>
          </p:nvPr>
        </p:nvSpPr>
        <p:spPr>
          <a:prstGeom prst="roundRect">
            <a:avLst>
              <a:gd name="adj" fmla="val 37500"/>
            </a:avLst>
          </a:prstGeom>
          <a:noFill/>
          <a:ln/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ru-RU">
                <a:solidFill>
                  <a:schemeClr val="tx1"/>
                </a:solidFill>
              </a:rPr>
              <a:t>2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6" name="Google Shape;127;p21"/>
          <p:cNvSpPr>
            <a:spLocks noGrp="1"/>
          </p:cNvSpPr>
          <p:nvPr>
            <p:ph type="subTitle" idx="4"/>
          </p:nvPr>
        </p:nvSpPr>
        <p:spPr>
          <a:xfrm>
            <a:off x="1847469" y="4462603"/>
            <a:ext cx="4075831" cy="939600"/>
          </a:xfrm>
        </p:spPr>
        <p:txBody>
          <a:bodyPr vert="horz" wrap="square" lIns="91424" tIns="91424" rIns="91424" bIns="91424" anchor="t" anchorCtr="0">
            <a:noAutofit/>
          </a:bodyPr>
          <a:lstStyle/>
          <a:p>
            <a:pPr indent="0">
              <a:defRPr/>
            </a:pPr>
            <a:r>
              <a:rPr lang="ru-RU" altLang="en-US" sz="2000">
                <a:solidFill>
                  <a:schemeClr val="dk1"/>
                </a:solidFill>
              </a:rPr>
              <a:t>Создание сценариев и структуры ответа на запрос</a:t>
            </a:r>
            <a:endParaRPr lang="ru-RU" altLang="en-US" sz="2000">
              <a:solidFill>
                <a:schemeClr val="dk1"/>
              </a:solidFill>
            </a:endParaRPr>
          </a:p>
        </p:txBody>
      </p:sp>
      <p:sp>
        <p:nvSpPr>
          <p:cNvPr id="8" name="Google Shape;130;p21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pPr>
              <a:defRPr/>
            </a:pPr>
            <a:r>
              <a:rPr lang="ru-RU" altLang="en-US"/>
              <a:t>Поставленные задачи</a:t>
            </a:r>
            <a:endParaRPr lang="ru-RU" altLang="en-US"/>
          </a:p>
        </p:txBody>
      </p:sp>
      <p:sp>
        <p:nvSpPr>
          <p:cNvPr id="9" name="Google Shape;133;p21"/>
          <p:cNvSpPr>
            <a:spLocks noGrp="1"/>
          </p:cNvSpPr>
          <p:nvPr>
            <p:ph type="title" idx="7" hasCustomPrompt="1"/>
          </p:nvPr>
        </p:nvSpPr>
        <p:spPr>
          <a:prstGeom prst="roundRect">
            <a:avLst>
              <a:gd name="adj" fmla="val 34375"/>
            </a:avLst>
          </a:prstGeom>
          <a:noFill/>
          <a:ln/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ru-RU">
                <a:solidFill>
                  <a:schemeClr val="tx1"/>
                </a:solidFill>
              </a:rPr>
              <a:t>3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10" name="Google Shape;134;p21"/>
          <p:cNvSpPr>
            <a:spLocks noGrp="1"/>
          </p:cNvSpPr>
          <p:nvPr>
            <p:ph type="subTitle" idx="8"/>
          </p:nvPr>
        </p:nvSpPr>
        <p:spPr>
          <a:xfrm>
            <a:off x="7176135" y="2623202"/>
            <a:ext cx="4057562" cy="939600"/>
          </a:xfrm>
        </p:spPr>
        <p:txBody>
          <a:bodyPr vert="horz" wrap="square" lIns="91424" tIns="91424" rIns="91424" bIns="91424" anchor="t" anchorCtr="0">
            <a:noAutofit/>
          </a:bodyPr>
          <a:lstStyle/>
          <a:p>
            <a:pPr indent="0">
              <a:defRPr/>
            </a:pPr>
            <a:r>
              <a:rPr lang="ru-RU" altLang="en-US" sz="2000">
                <a:solidFill>
                  <a:schemeClr val="dk1"/>
                </a:solidFill>
              </a:rPr>
              <a:t>Написание логики обработки запросов</a:t>
            </a:r>
            <a:endParaRPr lang="ru-RU" altLang="en-US" sz="2000">
              <a:solidFill>
                <a:schemeClr val="dk1"/>
              </a:solidFill>
            </a:endParaRPr>
          </a:p>
        </p:txBody>
      </p:sp>
      <p:sp>
        <p:nvSpPr>
          <p:cNvPr id="12" name="Google Shape;136;p21"/>
          <p:cNvSpPr>
            <a:spLocks noGrp="1"/>
          </p:cNvSpPr>
          <p:nvPr>
            <p:ph type="title" idx="13" hasCustomPrompt="1"/>
          </p:nvPr>
        </p:nvSpPr>
        <p:spPr>
          <a:prstGeom prst="roundRect">
            <a:avLst>
              <a:gd name="adj" fmla="val 38541"/>
            </a:avLst>
          </a:prstGeom>
          <a:noFill/>
          <a:ln/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ru-RU">
                <a:solidFill>
                  <a:schemeClr val="tx1"/>
                </a:solidFill>
              </a:rPr>
              <a:t>4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13" name="Google Shape;137;p21"/>
          <p:cNvSpPr>
            <a:spLocks noGrp="1"/>
          </p:cNvSpPr>
          <p:nvPr>
            <p:ph type="subTitle" idx="14"/>
          </p:nvPr>
        </p:nvSpPr>
        <p:spPr>
          <a:xfrm>
            <a:off x="7176135" y="4462603"/>
            <a:ext cx="4057562" cy="939600"/>
          </a:xfrm>
        </p:spPr>
        <p:txBody>
          <a:bodyPr vert="horz" wrap="square" lIns="91424" tIns="91424" rIns="91424" bIns="91424" anchor="t" anchorCtr="0">
            <a:noAutofit/>
          </a:bodyPr>
          <a:lstStyle/>
          <a:p>
            <a:pPr indent="0">
              <a:defRPr/>
            </a:pPr>
            <a:r>
              <a:rPr lang="ru-RU" altLang="en-US" sz="2000">
                <a:solidFill>
                  <a:schemeClr val="dk1"/>
                </a:solidFill>
              </a:rPr>
              <a:t>Создание ТГ бота и проработка дизайна</a:t>
            </a:r>
            <a:endParaRPr lang="ru-RU" altLang="en-US" sz="20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>
        <p:wipe dir="r"/>
      </p:transition>
    </mc:Choice>
    <mc:Fallback>
      <p:transition xmlns:mc="http://schemas.openxmlformats.org/markup-compatibility/2006" xmlns:hp="http://schemas.haansoft.com/office/presentation/8.0" spd="med" mc:Ignorable="hp" hp:hslDur="1000">
        <p:wipe dir="r"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;p10"/>
          <p:cNvSpPr>
            <a:spLocks noGrp="1"/>
          </p:cNvSpPr>
          <p:nvPr>
            <p:ph type="title" idx="0"/>
          </p:nvPr>
        </p:nvSpPr>
        <p:spPr>
          <a:xfrm flipH="1">
            <a:off x="4223766" y="516800"/>
            <a:ext cx="6991701" cy="895948"/>
          </a:xfrm>
        </p:spPr>
        <p:txBody>
          <a:bodyPr/>
          <a:lstStyle/>
          <a:p>
            <a:pPr>
              <a:defRPr/>
            </a:pPr>
            <a:r>
              <a:rPr lang="ru-RU" altLang="en-US"/>
              <a:t>Немного о интерфейсе программы</a:t>
            </a:r>
            <a:endParaRPr lang="ru-RU" altLang="en-US"/>
          </a:p>
        </p:txBody>
      </p:sp>
      <p:grpSp>
        <p:nvGrpSpPr>
          <p:cNvPr id="3" name=""/>
          <p:cNvGrpSpPr/>
          <p:nvPr/>
        </p:nvGrpSpPr>
        <p:grpSpPr>
          <a:xfrm rot="0">
            <a:off x="8760330" y="2711460"/>
            <a:ext cx="3168397" cy="3957944"/>
            <a:chOff x="8472296" y="2711460"/>
            <a:chExt cx="3168397" cy="3957944"/>
          </a:xfrm>
        </p:grpSpPr>
        <p:sp>
          <p:nvSpPr>
            <p:cNvPr id="4" name=""/>
            <p:cNvSpPr/>
            <p:nvPr/>
          </p:nvSpPr>
          <p:spPr>
            <a:xfrm>
              <a:off x="8760333" y="5913310"/>
              <a:ext cx="2880360" cy="7560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altLang="en-US"/>
            </a:p>
          </p:txBody>
        </p:sp>
        <p:pic>
          <p:nvPicPr>
            <p:cNvPr id="5" name=""/>
            <p:cNvPicPr>
              <a:picLocks noChangeAspect="1"/>
            </p:cNvPicPr>
            <p:nvPr/>
          </p:nvPicPr>
          <p:blipFill rotWithShape="1">
            <a:blip r:embed="rId2"/>
            <a:srcRect l="30900" t="15460" r="32780" b="23120"/>
            <a:stretch>
              <a:fillRect/>
            </a:stretch>
          </p:blipFill>
          <p:spPr>
            <a:xfrm>
              <a:off x="8472296" y="2711460"/>
              <a:ext cx="2952369" cy="3744468"/>
            </a:xfrm>
            <a:prstGeom prst="rect">
              <a:avLst/>
            </a:prstGeom>
          </p:spPr>
        </p:pic>
      </p:grpSp>
      <p:sp>
        <p:nvSpPr>
          <p:cNvPr id="10" name=""/>
          <p:cNvSpPr txBox="1"/>
          <p:nvPr/>
        </p:nvSpPr>
        <p:spPr>
          <a:xfrm>
            <a:off x="983361" y="3068955"/>
            <a:ext cx="4248531" cy="3962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ru-RU" altLang="en-US" sz="2000">
              <a:latin typeface="Times New Roman"/>
              <a:cs typeface="Times New Roman"/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9516" y="1412748"/>
            <a:ext cx="5602510" cy="4988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>
        <p:wipe dir="r"/>
      </p:transition>
    </mc:Choice>
    <mc:Fallback>
      <p:transition xmlns:mc="http://schemas.openxmlformats.org/markup-compatibility/2006" xmlns:hp="http://schemas.haansoft.com/office/presentation/8.0" spd="med" mc:Ignorable="hp" hp:hslDur="1000">
        <p:wipe dir="r"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22"/>
          <p:cNvSpPr>
            <a:spLocks noGrp="1"/>
          </p:cNvSpPr>
          <p:nvPr>
            <p:ph type="body" idx="1"/>
          </p:nvPr>
        </p:nvSpPr>
        <p:spPr>
          <a:xfrm>
            <a:off x="960000" y="2060828"/>
            <a:ext cx="7656315" cy="4248532"/>
          </a:xfrm>
        </p:spPr>
        <p:txBody>
          <a:bodyPr vert="horz" wrap="square" lIns="91424" tIns="91424" rIns="91424" bIns="91424" anchor="t" anchorCtr="0">
            <a:noAutofit/>
          </a:bodyPr>
          <a:lstStyle/>
          <a:p>
            <a:pPr marL="0" indent="0">
              <a:buNone/>
              <a:defRPr/>
            </a:pPr>
            <a:r>
              <a:rPr lang="ru-RU" altLang="en-US" sz="2000">
                <a:solidFill>
                  <a:schemeClr val="dk1"/>
                </a:solidFill>
              </a:rPr>
              <a:t>Описываемый проект «Тематическая система поиска» был реализован. В процессе его реализации мы применили в групповой  проектной деятельности знания об API сервисах Яндекса, а так же познакомились с другим его сервисом - Yandex SpeechKit.</a:t>
            </a:r>
            <a:endParaRPr lang="ru-RU" altLang="en-US" sz="2000">
              <a:solidFill>
                <a:schemeClr val="dk1"/>
              </a:solidFill>
            </a:endParaRPr>
          </a:p>
          <a:p>
            <a:pPr marL="0" indent="0">
              <a:buNone/>
              <a:defRPr/>
            </a:pPr>
            <a:r>
              <a:rPr lang="ru-RU" altLang="en-US" sz="2000">
                <a:solidFill>
                  <a:schemeClr val="dk1"/>
                </a:solidFill>
              </a:rPr>
              <a:t>Так же, в процессе работы над проектом, мы наметили себе дальнейшие возможности его развития связанные с расширением его функциональных возможностей. Нацеленных на улучшение точности и гибкости анализа намерений в запросах пользователей, при помощи технологий обработки естественного языка, что может предоставить возможности реализации большего количества функциональных возможностей.</a:t>
            </a:r>
            <a:endParaRPr lang="ru-RU" altLang="en-US" sz="2000">
              <a:solidFill>
                <a:schemeClr val="dk1"/>
              </a:solidFill>
            </a:endParaRPr>
          </a:p>
        </p:txBody>
      </p:sp>
      <p:sp>
        <p:nvSpPr>
          <p:cNvPr id="3" name="Google Shape;142;p2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ru-RU" altLang="en-US"/>
              <a:t>Заключение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>
        <p:wipe dir="r"/>
      </p:transition>
    </mc:Choice>
    <mc:Fallback>
      <p:transition xmlns:mc="http://schemas.openxmlformats.org/markup-compatibility/2006" xmlns:hp="http://schemas.haansoft.com/office/presentation/8.0" spd="med" mc:Ignorable="hp" hp:hslDur="1000">
        <p:wipe dir="r"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Theme2">
  <a:themeElements>
    <a:clrScheme name="Simple Light">
      <a:dk1>
        <a:srgbClr val="263238"/>
      </a:dk1>
      <a:lt1>
        <a:srgbClr val="ffffff"/>
      </a:lt1>
      <a:dk2>
        <a:srgbClr val="c7f9cc"/>
      </a:dk2>
      <a:lt2>
        <a:srgbClr val="80ed99"/>
      </a:lt2>
      <a:accent1>
        <a:srgbClr val="1a2327"/>
      </a:accent1>
      <a:accent2>
        <a:srgbClr val="58dd76"/>
      </a:accent2>
      <a:accent3>
        <a:srgbClr val="c7f9cc"/>
      </a:accent3>
      <a:accent4>
        <a:srgbClr val="80ed99"/>
      </a:accent4>
      <a:accent5>
        <a:srgbClr val="263238"/>
      </a:accent5>
      <a:accent6>
        <a:srgbClr val="fdfdfd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Malgun Gothic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239</ep:Words>
  <ep:PresentationFormat>On-screen Show (4:3)</ep:PresentationFormat>
  <ep:Paragraphs>27</ep:Paragraphs>
  <ep:Slides>6</ep:Slides>
  <ep:Notes>0</ep:Notes>
  <ep:TotalTime>0</ep:TotalTime>
  <ep:HiddenSlides>0</ep:HiddenSlides>
  <ep:MMClips>0</ep:MMClips>
  <ep:HeadingPairs>
    <vt:vector size="4" baseType="variant">
      <vt:variant>
        <vt:lpstr>Тема</vt:lpstr>
      </vt:variant>
      <vt:variant>
        <vt:i4>2</vt:i4>
      </vt:variant>
      <vt:variant>
        <vt:lpstr>Заголовок слайда</vt:lpstr>
      </vt:variant>
      <vt:variant>
        <vt:i4>6</vt:i4>
      </vt:variant>
    </vt:vector>
  </ep:HeadingPairs>
  <ep:TitlesOfParts>
    <vt:vector size="8" baseType="lpstr">
      <vt:lpstr>Theme2</vt:lpstr>
      <vt:lpstr>Slidesgo Final Pages</vt:lpstr>
      <vt:lpstr>Проект по теме «Тематическая система поиска»</vt:lpstr>
      <vt:lpstr>Функциональные возможности проекта</vt:lpstr>
      <vt:lpstr>Описание идеи</vt:lpstr>
      <vt:lpstr>1</vt:lpstr>
      <vt:lpstr>Немного о интерфейсе программы</vt:lpstr>
      <vt:lpstr>Заключение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2015-12-02T08:37:17.936</dcterms:created>
  <cp:lastModifiedBy>Asus</cp:lastModifiedBy>
  <dcterms:modified xsi:type="dcterms:W3CDTF">2023-04-23T15:23:55.746</dcterms:modified>
  <cp:revision>21</cp:revision>
  <cp:version>0906.0100.01</cp:version>
</cp:coreProperties>
</file>